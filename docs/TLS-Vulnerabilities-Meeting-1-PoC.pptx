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is the proof-of-concept meeting: the goal is to show the project is feasible. We demonstrate three recent (2024-2025) TLS vulnerabilities, each in a different piece of software and each a different weakness class, all against servers we run ourselves in an isolated environment. Keep it modest and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and ethics. The method is the important part: each CVE is tested against both a vulnerable and a patched build, so the patched one acts as a control and the result is an experiment, not just a demo. Stress that the environment is fully isolated on loopback and that we only reproduce published CVEs with standard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slide. Nothing special: one host (a PC, laptop or VM), Docker, and standard open-source tools. The vulnerable and patched versions of nginx, CrateDB and Traefik all come as official Docker images we pull directly. Two run with plain Docker; the Traefik demo additionally needs a small local Kubernetes (k3d or kind), because that bug lives in Traefik's ingress-nginx provider. OpenSSL CLI drives the renegotiation test and Wireshark lets us show the handshake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three CVEs. They were chosen because they are recent (2024-2025), each is in a different product, each comes as an official Docker image, and together they cover three distinct weakness classes: an authentication bypass (nginx), a denial of service (CrateDB), and improper certificate validation leading to a man-in-the-middle (Traefik). The Traefik one is striking: setting the verify flag to "on" actually turned verification off. The next three slides take each one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CVE: nginx client-certificate bypass, an authentication-bypass flaw. The condition is specific: multiple virtual servers on the same IP and port, with the default one doing client-cert auth and using session tickets or the session cache. A resumed session skips the cert re-check, so you reach a protected server block without the certificate. We demonstrate access granted on the old build and rejected on 1.27.4. Images: nginx:1.27.3 (vulnerable) and nginx:1.27.4 (patched), both pulled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CVE: CrateDB renegotiation denial of service, a CPU-exhaustion flaw. TLS renegotiation re-runs the expensive handshake; letting the client trigger it repeatedly lets one connection burn server CPU. We drive repeated renegotiations and show CPU climbing on the vulnerable version. The key teaching point: TLS 1.3 removed renegotiation entirely, so a TLS 1.3 server simply refuses it. Images: crate:5.7.1 (vulnerable) and crate:5.7.2 (patched).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CVE: Traefik improper certificate validation, a man-in-the-middle class and a different class from the other two. The bug is memorable: a one-word comparison was inverted for about five months, so the annotation meant to enforce backend TLS verification ("on") actually disabled it by setting Go's InsecureSkipVerify to true. We demonstrate it by running Traefik's ingress-nginx provider in a small local Kubernetes (k3d) with an HTTPS backend that presents an untrusted certificate: the vulnerable build connects anyway, the patched 3.6.3 refuses. This one needs more setup than the others, which is why the live convincer at the meeting is the CrateDB demo. Image: traefik:v3.6.2 (vulnerable) vs traefik:v3.6.3 (patched).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Make the split clear: this first meeting is a proof of concept, so we only show that the environment and tools are ready — containers pulled and starting, servers accepting TLS, everything in place to run the experiments. The right column is what we bring to the second meeting: the practical part done — the testbed setup (implementation, report section 3) and the experiments run against vulnerable and patched builds (validation, report section 4), presented as screenshots, code fragments and figures rather than a live demo. End by checking the scope with the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2660A4"/>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2660A4"/>
                </a:solidFill>
                <a:latin typeface="Arial" pitchFamily="34" charset="0"/>
                <a:ea typeface="Arial" pitchFamily="34" charset="-122"/>
                <a:cs typeface="Arial"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55750"/>
            <a:ext cx="10566400" cy="448945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1973560"/>
            <a:ext cx="1270000" cy="38100"/>
          </a:xfrm>
          <a:prstGeom prst="rect">
            <a:avLst/>
          </a:prstGeom>
          <a:solidFill>
            <a:srgbClr val="2660A4"/>
          </a:solidFill>
          <a:ln/>
        </p:spPr>
      </p:sp>
      <p:sp>
        <p:nvSpPr>
          <p:cNvPr id="3" name="Text 1"/>
          <p:cNvSpPr/>
          <p:nvPr>
            <p:ph type="title"/>
          </p:nvPr>
        </p:nvSpPr>
        <p:spPr>
          <a:xfrm>
            <a:off x="812800" y="2265660"/>
            <a:ext cx="10883392" cy="723900"/>
          </a:xfrm>
          <a:prstGeom prst="rect">
            <a:avLst/>
          </a:prstGeom>
          <a:noFill/>
          <a:ln/>
        </p:spPr>
        <p:txBody>
          <a:bodyPr wrap="square" lIns="0" tIns="0" rIns="0" bIns="0" rtlCol="0" anchor="t">
            <a:normAutofit/>
          </a:bodyPr>
          <a:lstStyle/>
          <a:p>
            <a:pPr algn="l" indent="0" marL="0">
              <a:lnSpc>
                <a:spcPts val="5500"/>
              </a:lnSpc>
              <a:buNone/>
            </a:pPr>
            <a:r>
              <a:rPr lang="en-US" sz="5000" b="1" i="0" dirty="0">
                <a:solidFill>
                  <a:srgbClr val="1A1A1A"/>
                </a:solidFill>
                <a:latin typeface="Arial" pitchFamily="34" charset="0"/>
                <a:ea typeface="Arial" pitchFamily="34" charset="-122"/>
                <a:cs typeface="Arial" pitchFamily="34" charset="-120"/>
              </a:rPr>
              <a:t>TLS Vulnerabilities</a:t>
            </a:r>
            <a:endParaRPr lang="en-US" sz="5000" dirty="0"/>
          </a:p>
        </p:txBody>
      </p:sp>
      <p:sp>
        <p:nvSpPr>
          <p:cNvPr id="4" name="Text 2"/>
          <p:cNvSpPr/>
          <p:nvPr/>
        </p:nvSpPr>
        <p:spPr>
          <a:xfrm>
            <a:off x="812800" y="3218160"/>
            <a:ext cx="98107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44444"/>
                </a:solidFill>
                <a:latin typeface="Arial" pitchFamily="34" charset="0"/>
                <a:ea typeface="Arial" pitchFamily="34" charset="-122"/>
                <a:cs typeface="Arial" pitchFamily="34" charset="-120"/>
              </a:rPr>
              <a:t>Demonstrating attacks against three recent TLS vulnerabilities in an isolated environment</a:t>
            </a:r>
            <a:endParaRPr lang="en-US" sz="2000" dirty="0"/>
          </a:p>
        </p:txBody>
      </p:sp>
      <p:sp>
        <p:nvSpPr>
          <p:cNvPr id="5" name="Text 3"/>
          <p:cNvSpPr/>
          <p:nvPr/>
        </p:nvSpPr>
        <p:spPr>
          <a:xfrm>
            <a:off x="812800" y="41325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660A4"/>
                </a:solidFill>
                <a:latin typeface="Arial" pitchFamily="34" charset="0"/>
                <a:ea typeface="Arial" pitchFamily="34" charset="-122"/>
                <a:cs typeface="Arial" pitchFamily="34" charset="-120"/>
              </a:rPr>
              <a:t>Proof of Concept</a:t>
            </a:r>
            <a:endParaRPr lang="en-US" sz="1500" dirty="0"/>
          </a:p>
        </p:txBody>
      </p:sp>
      <p:sp>
        <p:nvSpPr>
          <p:cNvPr id="6" name="Text 4"/>
          <p:cNvSpPr/>
          <p:nvPr/>
        </p:nvSpPr>
        <p:spPr>
          <a:xfrm>
            <a:off x="812800" y="465326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6666"/>
                </a:solidFill>
                <a:latin typeface="Arial" pitchFamily="34" charset="0"/>
                <a:ea typeface="Arial" pitchFamily="34" charset="-122"/>
                <a:cs typeface="Arial" pitchFamily="34" charset="-120"/>
              </a:rPr>
              <a:t>CVE-2025-23419 · CVE-2024-37309 · CVE-2025-66491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660A4"/>
                </a:solidFill>
                <a:latin typeface="Arial" pitchFamily="34" charset="0"/>
                <a:ea typeface="Arial" pitchFamily="34" charset="-122"/>
                <a:cs typeface="Arial" pitchFamily="34" charset="-120"/>
              </a:rPr>
              <a:t>Goal &amp; environment</a:t>
            </a:r>
            <a:endParaRPr lang="en-US" sz="3000" dirty="0"/>
          </a:p>
        </p:txBody>
      </p:sp>
      <p:sp>
        <p:nvSpPr>
          <p:cNvPr id="3" name="Text 1"/>
          <p:cNvSpPr/>
          <p:nvPr/>
        </p:nvSpPr>
        <p:spPr>
          <a:xfrm>
            <a:off x="812800" y="155575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A1A1A"/>
                </a:solidFill>
                <a:latin typeface="Arial" pitchFamily="34" charset="0"/>
                <a:ea typeface="Arial" pitchFamily="34" charset="-122"/>
                <a:cs typeface="Arial" pitchFamily="34" charset="-120"/>
              </a:rPr>
              <a:t>Goal:</a:t>
            </a:r>
            <a:r>
              <a:rPr lang="en-US" sz="1700" dirty="0">
                <a:solidFill>
                  <a:srgbClr val="1A1A1A"/>
                </a:solidFill>
                <a:latin typeface="Arial" pitchFamily="34" charset="0"/>
                <a:ea typeface="Arial" pitchFamily="34" charset="-122"/>
                <a:cs typeface="Arial" pitchFamily="34" charset="-120"/>
              </a:rPr>
              <a:t> reproduce three recent TLS vulnerabilities, show their effect, and show the fix removes them.</a:t>
            </a:r>
            <a:endParaRPr lang="en-US" sz="1700" dirty="0"/>
          </a:p>
        </p:txBody>
      </p:sp>
      <p:sp>
        <p:nvSpPr>
          <p:cNvPr id="4" name="Text 2"/>
          <p:cNvSpPr/>
          <p:nvPr/>
        </p:nvSpPr>
        <p:spPr>
          <a:xfrm>
            <a:off x="812800" y="203577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333333"/>
                </a:solidFill>
                <a:latin typeface="Arial" pitchFamily="34" charset="0"/>
                <a:ea typeface="Arial" pitchFamily="34" charset="-122"/>
                <a:cs typeface="Arial" pitchFamily="34" charset="-120"/>
              </a:rPr>
              <a:t>Environment:</a:t>
            </a:r>
            <a:r>
              <a:rPr lang="en-US" sz="1500" dirty="0">
                <a:solidFill>
                  <a:srgbClr val="333333"/>
                </a:solidFill>
                <a:latin typeface="Arial" pitchFamily="34" charset="0"/>
                <a:ea typeface="Arial" pitchFamily="34" charset="-122"/>
                <a:cs typeface="Arial" pitchFamily="34" charset="-120"/>
              </a:rPr>
              <a:t> everything runs on our own host — Docker containers on a private network, bound to 127.0.0.1. No external or production system is touched.</a:t>
            </a:r>
            <a:endParaRPr lang="en-US" sz="1500" dirty="0"/>
          </a:p>
        </p:txBody>
      </p:sp>
      <p:sp>
        <p:nvSpPr>
          <p:cNvPr id="5" name="Text 3"/>
          <p:cNvSpPr/>
          <p:nvPr/>
        </p:nvSpPr>
        <p:spPr>
          <a:xfrm>
            <a:off x="812800" y="278507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333333"/>
                </a:solidFill>
                <a:latin typeface="Arial" pitchFamily="34" charset="0"/>
                <a:ea typeface="Arial" pitchFamily="34" charset="-122"/>
                <a:cs typeface="Arial" pitchFamily="34" charset="-120"/>
              </a:rPr>
              <a:t>Method:</a:t>
            </a:r>
            <a:r>
              <a:rPr lang="en-US" sz="1500" dirty="0">
                <a:solidFill>
                  <a:srgbClr val="333333"/>
                </a:solidFill>
                <a:latin typeface="Arial" pitchFamily="34" charset="0"/>
                <a:ea typeface="Arial" pitchFamily="34" charset="-122"/>
                <a:cs typeface="Arial" pitchFamily="34" charset="-120"/>
              </a:rPr>
              <a:t> each vulnerability is run against two servers — a </a:t>
            </a:r>
            <a:r>
              <a:rPr lang="en-US" sz="1500" b="1" dirty="0">
                <a:solidFill>
                  <a:srgbClr val="333333"/>
                </a:solidFill>
                <a:latin typeface="Arial" pitchFamily="34" charset="0"/>
                <a:ea typeface="Arial" pitchFamily="34" charset="-122"/>
                <a:cs typeface="Arial" pitchFamily="34" charset="-120"/>
              </a:rPr>
              <a:t>vulnerable</a:t>
            </a:r>
            <a:r>
              <a:rPr lang="en-US" sz="1500" dirty="0">
                <a:solidFill>
                  <a:srgbClr val="333333"/>
                </a:solidFill>
                <a:latin typeface="Arial" pitchFamily="34" charset="0"/>
                <a:ea typeface="Arial" pitchFamily="34" charset="-122"/>
                <a:cs typeface="Arial" pitchFamily="34" charset="-120"/>
              </a:rPr>
              <a:t> version (must be affected) and a </a:t>
            </a:r>
            <a:r>
              <a:rPr lang="en-US" sz="1500" b="1" dirty="0">
                <a:solidFill>
                  <a:srgbClr val="333333"/>
                </a:solidFill>
                <a:latin typeface="Arial" pitchFamily="34" charset="0"/>
                <a:ea typeface="Arial" pitchFamily="34" charset="-122"/>
                <a:cs typeface="Arial" pitchFamily="34" charset="-120"/>
              </a:rPr>
              <a:t>patched</a:t>
            </a:r>
            <a:r>
              <a:rPr lang="en-US" sz="1500" dirty="0">
                <a:solidFill>
                  <a:srgbClr val="333333"/>
                </a:solidFill>
                <a:latin typeface="Arial" pitchFamily="34" charset="0"/>
                <a:ea typeface="Arial" pitchFamily="34" charset="-122"/>
                <a:cs typeface="Arial" pitchFamily="34" charset="-120"/>
              </a:rPr>
              <a:t> version (must be safe). The patched server is the control.</a:t>
            </a:r>
            <a:endParaRPr lang="en-US" sz="1500" dirty="0"/>
          </a:p>
        </p:txBody>
      </p:sp>
      <p:sp>
        <p:nvSpPr>
          <p:cNvPr id="6" name="Text 4"/>
          <p:cNvSpPr/>
          <p:nvPr/>
        </p:nvSpPr>
        <p:spPr>
          <a:xfrm>
            <a:off x="812800" y="353437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333333"/>
                </a:solidFill>
                <a:latin typeface="Arial" pitchFamily="34" charset="0"/>
                <a:ea typeface="Arial" pitchFamily="34" charset="-122"/>
                <a:cs typeface="Arial" pitchFamily="34" charset="-120"/>
              </a:rPr>
              <a:t>Scope:</a:t>
            </a:r>
            <a:r>
              <a:rPr lang="en-US" sz="1500" dirty="0">
                <a:solidFill>
                  <a:srgbClr val="333333"/>
                </a:solidFill>
                <a:latin typeface="Arial" pitchFamily="34" charset="0"/>
                <a:ea typeface="Arial" pitchFamily="34" charset="-122"/>
                <a:cs typeface="Arial" pitchFamily="34" charset="-120"/>
              </a:rPr>
              <a:t> a controlled proof of concept — we reproduce known, already-patched CVEs using published advisories and standard tooling. No new exploit development, and nothing outside our own environment.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660A4"/>
                </a:solidFill>
                <a:latin typeface="Arial" pitchFamily="34" charset="0"/>
                <a:ea typeface="Arial" pitchFamily="34" charset="-122"/>
                <a:cs typeface="Arial" pitchFamily="34" charset="-120"/>
              </a:rPr>
              <a:t>Tools</a:t>
            </a:r>
            <a:endParaRPr lang="en-US" sz="3000" dirty="0"/>
          </a:p>
        </p:txBody>
      </p:sp>
      <p:sp>
        <p:nvSpPr>
          <p:cNvPr id="3" name="Text 1"/>
          <p:cNvSpPr/>
          <p:nvPr/>
        </p:nvSpPr>
        <p:spPr>
          <a:xfrm>
            <a:off x="812800" y="1530350"/>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Hardware</a:t>
            </a:r>
            <a:endParaRPr lang="en-US" sz="1800" dirty="0"/>
          </a:p>
        </p:txBody>
      </p:sp>
      <p:sp>
        <p:nvSpPr>
          <p:cNvPr id="4" name="Text 2"/>
          <p:cNvSpPr/>
          <p:nvPr/>
        </p:nvSpPr>
        <p:spPr>
          <a:xfrm>
            <a:off x="896620" y="1931591"/>
            <a:ext cx="5140960" cy="9398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333333"/>
                </a:solidFill>
                <a:latin typeface="Arial" pitchFamily="34" charset="0"/>
                <a:ea typeface="Arial" pitchFamily="34" charset="-122"/>
                <a:cs typeface="Arial" pitchFamily="34" charset="-120"/>
              </a:rPr>
              <a:t>One host - PC, laptop or VM (8 GB RAM, ~15 GB disk)</a:t>
            </a:r>
            <a:endParaRPr lang="en-US" sz="1500" dirty="0"/>
          </a:p>
          <a:p>
            <a:pPr algn="l" marL="170180" indent="-170180">
              <a:lnSpc>
                <a:spcPts val="2400"/>
              </a:lnSpc>
              <a:buSzPct val="100000"/>
              <a:buChar char="•"/>
            </a:pPr>
            <a:r>
              <a:rPr lang="en-US" sz="1500" dirty="0">
                <a:solidFill>
                  <a:srgbClr val="333333"/>
                </a:solidFill>
                <a:latin typeface="Arial" pitchFamily="34" charset="0"/>
                <a:ea typeface="Arial" pitchFamily="34" charset="-122"/>
                <a:cs typeface="Arial" pitchFamily="34" charset="-120"/>
              </a:rPr>
              <a:t>Docker (or a VirtualBox VM)</a:t>
            </a:r>
            <a:endParaRPr lang="en-US" sz="1500" dirty="0"/>
          </a:p>
          <a:p>
            <a:pPr algn="l" marL="170180" indent="-170180">
              <a:lnSpc>
                <a:spcPts val="2400"/>
              </a:lnSpc>
              <a:buSzPct val="100000"/>
              <a:buChar char="•"/>
            </a:pPr>
            <a:r>
              <a:rPr lang="en-US" sz="1500" dirty="0">
                <a:solidFill>
                  <a:srgbClr val="333333"/>
                </a:solidFill>
                <a:latin typeface="Arial" pitchFamily="34" charset="0"/>
                <a:ea typeface="Arial" pitchFamily="34" charset="-122"/>
                <a:cs typeface="Arial" pitchFamily="34" charset="-120"/>
              </a:rPr>
              <a:t>No external network - loopback only</a:t>
            </a:r>
            <a:endParaRPr lang="en-US" sz="1500" dirty="0"/>
          </a:p>
        </p:txBody>
      </p:sp>
      <p:sp>
        <p:nvSpPr>
          <p:cNvPr id="5" name="Text 3"/>
          <p:cNvSpPr/>
          <p:nvPr/>
        </p:nvSpPr>
        <p:spPr>
          <a:xfrm>
            <a:off x="6299200" y="1530350"/>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Arial" pitchFamily="34" charset="0"/>
                <a:ea typeface="Arial" pitchFamily="34" charset="-122"/>
                <a:cs typeface="Arial" pitchFamily="34" charset="-120"/>
              </a:rPr>
              <a:t>Software</a:t>
            </a:r>
            <a:endParaRPr lang="en-US" sz="1800" dirty="0"/>
          </a:p>
        </p:txBody>
      </p:sp>
      <p:sp>
        <p:nvSpPr>
          <p:cNvPr id="6" name="Text 4"/>
          <p:cNvSpPr/>
          <p:nvPr/>
        </p:nvSpPr>
        <p:spPr>
          <a:xfrm>
            <a:off x="6383020" y="1931591"/>
            <a:ext cx="5140960"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b="1" dirty="0">
                <a:solidFill>
                  <a:srgbClr val="333333"/>
                </a:solidFill>
                <a:latin typeface="Arial" pitchFamily="34" charset="0"/>
                <a:ea typeface="Arial" pitchFamily="34" charset="-122"/>
                <a:cs typeface="Arial" pitchFamily="34" charset="-120"/>
              </a:rPr>
              <a:t>Docker</a:t>
            </a:r>
            <a:r>
              <a:rPr lang="en-US" sz="1500" dirty="0">
                <a:solidFill>
                  <a:srgbClr val="333333"/>
                </a:solidFill>
                <a:latin typeface="Arial" pitchFamily="34" charset="0"/>
                <a:ea typeface="Arial" pitchFamily="34" charset="-122"/>
                <a:cs typeface="Arial" pitchFamily="34" charset="-120"/>
              </a:rPr>
              <a:t> - vulnerable + patched official images</a:t>
            </a:r>
            <a:endParaRPr lang="en-US" sz="1500" dirty="0"/>
          </a:p>
          <a:p>
            <a:pPr algn="l" marL="170180" indent="-170180">
              <a:lnSpc>
                <a:spcPts val="2400"/>
              </a:lnSpc>
              <a:buSzPct val="100000"/>
              <a:buChar char="•"/>
            </a:pPr>
            <a:r>
              <a:rPr lang="en-US" sz="1500" b="1" dirty="0">
                <a:solidFill>
                  <a:srgbClr val="333333"/>
                </a:solidFill>
                <a:latin typeface="Arial" pitchFamily="34" charset="0"/>
                <a:ea typeface="Arial" pitchFamily="34" charset="-122"/>
                <a:cs typeface="Arial" pitchFamily="34" charset="-120"/>
              </a:rPr>
              <a:t>k3d / kind</a:t>
            </a:r>
            <a:r>
              <a:rPr lang="en-US" sz="1500" dirty="0">
                <a:solidFill>
                  <a:srgbClr val="333333"/>
                </a:solidFill>
                <a:latin typeface="Arial" pitchFamily="34" charset="0"/>
                <a:ea typeface="Arial" pitchFamily="34" charset="-122"/>
                <a:cs typeface="Arial" pitchFamily="34" charset="-120"/>
              </a:rPr>
              <a:t> - small local Kubernetes (Traefik demo)</a:t>
            </a:r>
            <a:endParaRPr lang="en-US" sz="1500" dirty="0"/>
          </a:p>
          <a:p>
            <a:pPr algn="l" marL="170180" indent="-170180">
              <a:lnSpc>
                <a:spcPts val="2400"/>
              </a:lnSpc>
              <a:buSzPct val="100000"/>
              <a:buChar char="•"/>
            </a:pPr>
            <a:r>
              <a:rPr lang="en-US" sz="1500" b="1" dirty="0">
                <a:solidFill>
                  <a:srgbClr val="333333"/>
                </a:solidFill>
                <a:latin typeface="Arial" pitchFamily="34" charset="0"/>
                <a:ea typeface="Arial" pitchFamily="34" charset="-122"/>
                <a:cs typeface="Arial" pitchFamily="34" charset="-120"/>
              </a:rPr>
              <a:t>OpenSSL</a:t>
            </a:r>
            <a:r>
              <a:rPr lang="en-US" sz="1500" dirty="0">
                <a:solidFill>
                  <a:srgbClr val="333333"/>
                </a:solidFill>
                <a:latin typeface="Arial" pitchFamily="34" charset="0"/>
                <a:ea typeface="Arial" pitchFamily="34" charset="-122"/>
                <a:cs typeface="Arial" pitchFamily="34" charset="-120"/>
              </a:rPr>
              <a:t> CLI - handshakes, renegotiation</a:t>
            </a:r>
            <a:endParaRPr lang="en-US" sz="1500" dirty="0"/>
          </a:p>
          <a:p>
            <a:pPr algn="l" marL="170180" indent="-170180">
              <a:lnSpc>
                <a:spcPts val="2400"/>
              </a:lnSpc>
              <a:buSzPct val="100000"/>
              <a:buChar char="•"/>
            </a:pPr>
            <a:r>
              <a:rPr lang="en-US" sz="1500" b="1" dirty="0">
                <a:solidFill>
                  <a:srgbClr val="333333"/>
                </a:solidFill>
                <a:latin typeface="Arial" pitchFamily="34" charset="0"/>
                <a:ea typeface="Arial" pitchFamily="34" charset="-122"/>
                <a:cs typeface="Arial" pitchFamily="34" charset="-120"/>
              </a:rPr>
              <a:t>testssl.sh / nmap</a:t>
            </a:r>
            <a:r>
              <a:rPr lang="en-US" sz="1500" dirty="0">
                <a:solidFill>
                  <a:srgbClr val="333333"/>
                </a:solidFill>
                <a:latin typeface="Arial" pitchFamily="34" charset="0"/>
                <a:ea typeface="Arial" pitchFamily="34" charset="-122"/>
                <a:cs typeface="Arial" pitchFamily="34" charset="-120"/>
              </a:rPr>
              <a:t> - scanning</a:t>
            </a:r>
            <a:endParaRPr lang="en-US" sz="1500" dirty="0"/>
          </a:p>
          <a:p>
            <a:pPr algn="l" marL="170180" indent="-170180">
              <a:lnSpc>
                <a:spcPts val="2400"/>
              </a:lnSpc>
              <a:buSzPct val="100000"/>
              <a:buChar char="•"/>
            </a:pPr>
            <a:r>
              <a:rPr lang="en-US" sz="1500" b="1" dirty="0">
                <a:solidFill>
                  <a:srgbClr val="333333"/>
                </a:solidFill>
                <a:latin typeface="Arial" pitchFamily="34" charset="0"/>
                <a:ea typeface="Arial" pitchFamily="34" charset="-122"/>
                <a:cs typeface="Arial" pitchFamily="34" charset="-120"/>
              </a:rPr>
              <a:t>Wireshark</a:t>
            </a:r>
            <a:r>
              <a:rPr lang="en-US" sz="1500" dirty="0">
                <a:solidFill>
                  <a:srgbClr val="333333"/>
                </a:solidFill>
                <a:latin typeface="Arial" pitchFamily="34" charset="0"/>
                <a:ea typeface="Arial" pitchFamily="34" charset="-122"/>
                <a:cs typeface="Arial" pitchFamily="34" charset="-120"/>
              </a:rPr>
              <a:t> - inspect the handshake</a:t>
            </a:r>
            <a:endParaRPr lang="en-US" sz="1500" dirty="0"/>
          </a:p>
        </p:txBody>
      </p:sp>
      <p:sp>
        <p:nvSpPr>
          <p:cNvPr id="7" name="Text 5"/>
          <p:cNvSpPr/>
          <p:nvPr/>
        </p:nvSpPr>
        <p:spPr>
          <a:xfrm>
            <a:off x="6299200" y="3582591"/>
            <a:ext cx="52324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6666"/>
                </a:solidFill>
                <a:latin typeface="Arial" pitchFamily="34" charset="0"/>
                <a:ea typeface="Arial" pitchFamily="34" charset="-122"/>
                <a:cs typeface="Arial" pitchFamily="34" charset="-120"/>
              </a:rPr>
              <a:t>Targets: nginx, CrateDB, Traefik — all official images.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660A4"/>
                </a:solidFill>
                <a:latin typeface="Arial" pitchFamily="34" charset="0"/>
                <a:ea typeface="Arial" pitchFamily="34" charset="-122"/>
                <a:cs typeface="Arial" pitchFamily="34" charset="-120"/>
              </a:rPr>
              <a:t>The three vulnerabilities</a:t>
            </a:r>
            <a:endParaRPr lang="en-US" sz="3000" dirty="0"/>
          </a:p>
        </p:txBody>
      </p:sp>
      <p:sp>
        <p:nvSpPr>
          <p:cNvPr id="3" name="Shape 1"/>
          <p:cNvSpPr/>
          <p:nvPr/>
        </p:nvSpPr>
        <p:spPr>
          <a:xfrm>
            <a:off x="11376025" y="1504950"/>
            <a:ext cx="0" cy="1509316"/>
          </a:xfrm>
          <a:prstGeom prst="line">
            <a:avLst/>
          </a:prstGeom>
          <a:noFill/>
          <a:ln w="6350">
            <a:solidFill>
              <a:srgbClr val="CCCCCC"/>
            </a:solidFill>
            <a:prstDash val="solid"/>
          </a:ln>
        </p:spPr>
      </p:sp>
      <p:sp>
        <p:nvSpPr>
          <p:cNvPr id="4" name="Shape 2"/>
          <p:cNvSpPr/>
          <p:nvPr/>
        </p:nvSpPr>
        <p:spPr>
          <a:xfrm>
            <a:off x="812800" y="3011091"/>
            <a:ext cx="10566400" cy="0"/>
          </a:xfrm>
          <a:prstGeom prst="line">
            <a:avLst/>
          </a:prstGeom>
          <a:noFill/>
          <a:ln w="6350">
            <a:solidFill>
              <a:srgbClr val="CCCCCC"/>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17650"/>
          <a:ext cx="10547350" cy="1490266"/>
        </p:xfrm>
        <a:graphic>
          <a:graphicData uri="http://schemas.openxmlformats.org/drawingml/2006/table">
            <a:tbl>
              <a:tblPr/>
              <a:tblGrid>
                <a:gridCol w="2214943"/>
                <a:gridCol w="1687576"/>
                <a:gridCol w="4218940"/>
                <a:gridCol w="2425890"/>
              </a:tblGrid>
              <a:tr h="372566">
                <a:tc>
                  <a:txBody>
                    <a:bodyPr/>
                    <a:lstStyle/>
                    <a:p>
                      <a:pPr indent="0" marL="0">
                        <a:lnSpc>
                          <a:spcPts val="1890"/>
                        </a:lnSpc>
                        <a:buNone/>
                      </a:pPr>
                      <a:r>
                        <a:rPr lang="en-US" sz="1350" b="1" dirty="0">
                          <a:solidFill>
                            <a:srgbClr val="FFFFFF"/>
                          </a:solidFill>
                          <a:latin typeface="Arial" pitchFamily="34" charset="0"/>
                          <a:ea typeface="Arial" pitchFamily="34" charset="-122"/>
                          <a:cs typeface="Arial" pitchFamily="34" charset="-120"/>
                        </a:rPr>
                        <a:t>CVE</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224F8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24F84"/>
                      </a:solidFill>
                      <a:prstDash val="solid"/>
                      <a:round/>
                      <a:headEnd type="none" w="med" len="med"/>
                      <a:tailEnd type="none" w="med" len="med"/>
                    </a:lnB>
                    <a:solidFill>
                      <a:srgbClr val="2660A4"/>
                    </a:solidFill>
                  </a:tcPr>
                </a:tc>
                <a:tc>
                  <a:txBody>
                    <a:bodyPr/>
                    <a:lstStyle/>
                    <a:p>
                      <a:pPr indent="0" marL="0">
                        <a:lnSpc>
                          <a:spcPts val="1890"/>
                        </a:lnSpc>
                        <a:buNone/>
                      </a:pPr>
                      <a:r>
                        <a:rPr lang="en-US" sz="1350" b="1" dirty="0">
                          <a:solidFill>
                            <a:srgbClr val="FFFFFF"/>
                          </a:solidFill>
                          <a:latin typeface="Arial" pitchFamily="34" charset="0"/>
                          <a:ea typeface="Arial" pitchFamily="34" charset="-122"/>
                          <a:cs typeface="Arial" pitchFamily="34" charset="-120"/>
                        </a:rPr>
                        <a:t>Software</a:t>
                      </a:r>
                      <a:endParaRPr lang="en-US" sz="1350" dirty="0">
                        <a:latin typeface="Arial" charset="0"/>
                        <a:ea typeface="Arial" charset="0"/>
                        <a:cs typeface="Arial" charset="0"/>
                      </a:endParaRPr>
                    </a:p>
                  </a:txBody>
                  <a:tcPr marL="60007" marR="60007" marT="60007" marB="60007" anchor="t">
                    <a:lnL w="12700" cap="flat" cmpd="sng" algn="ctr">
                      <a:solidFill>
                        <a:srgbClr val="224F84"/>
                      </a:solidFill>
                      <a:prstDash val="solid"/>
                      <a:round/>
                      <a:headEnd type="none" w="med" len="med"/>
                      <a:tailEnd type="none" w="med" len="med"/>
                    </a:lnL>
                    <a:lnR w="12700" cap="flat" cmpd="sng" algn="ctr">
                      <a:solidFill>
                        <a:srgbClr val="224F8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24F84"/>
                      </a:solidFill>
                      <a:prstDash val="solid"/>
                      <a:round/>
                      <a:headEnd type="none" w="med" len="med"/>
                      <a:tailEnd type="none" w="med" len="med"/>
                    </a:lnB>
                    <a:solidFill>
                      <a:srgbClr val="2660A4"/>
                    </a:solidFill>
                  </a:tcPr>
                </a:tc>
                <a:tc>
                  <a:txBody>
                    <a:bodyPr/>
                    <a:lstStyle/>
                    <a:p>
                      <a:pPr indent="0" marL="0">
                        <a:lnSpc>
                          <a:spcPts val="1890"/>
                        </a:lnSpc>
                        <a:buNone/>
                      </a:pPr>
                      <a:r>
                        <a:rPr lang="en-US" sz="1350" b="1" dirty="0">
                          <a:solidFill>
                            <a:srgbClr val="FFFFFF"/>
                          </a:solidFill>
                          <a:latin typeface="Arial" pitchFamily="34" charset="0"/>
                          <a:ea typeface="Arial" pitchFamily="34" charset="-122"/>
                          <a:cs typeface="Arial" pitchFamily="34" charset="-120"/>
                        </a:rPr>
                        <a:t>What it allows</a:t>
                      </a:r>
                      <a:endParaRPr lang="en-US" sz="1350" dirty="0">
                        <a:latin typeface="Arial" charset="0"/>
                        <a:ea typeface="Arial" charset="0"/>
                        <a:cs typeface="Arial" charset="0"/>
                      </a:endParaRPr>
                    </a:p>
                  </a:txBody>
                  <a:tcPr marL="60007" marR="60007" marT="60007" marB="60007" anchor="t">
                    <a:lnL w="12700" cap="flat" cmpd="sng" algn="ctr">
                      <a:solidFill>
                        <a:srgbClr val="224F84"/>
                      </a:solidFill>
                      <a:prstDash val="solid"/>
                      <a:round/>
                      <a:headEnd type="none" w="med" len="med"/>
                      <a:tailEnd type="none" w="med" len="med"/>
                    </a:lnL>
                    <a:lnR w="12700" cap="flat" cmpd="sng" algn="ctr">
                      <a:solidFill>
                        <a:srgbClr val="224F8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24F84"/>
                      </a:solidFill>
                      <a:prstDash val="solid"/>
                      <a:round/>
                      <a:headEnd type="none" w="med" len="med"/>
                      <a:tailEnd type="none" w="med" len="med"/>
                    </a:lnB>
                    <a:solidFill>
                      <a:srgbClr val="2660A4"/>
                    </a:solidFill>
                  </a:tcPr>
                </a:tc>
                <a:tc>
                  <a:txBody>
                    <a:bodyPr/>
                    <a:lstStyle/>
                    <a:p>
                      <a:pPr indent="0" marL="0">
                        <a:lnSpc>
                          <a:spcPts val="1890"/>
                        </a:lnSpc>
                        <a:buNone/>
                      </a:pPr>
                      <a:r>
                        <a:rPr lang="en-US" sz="1350" b="1" dirty="0">
                          <a:solidFill>
                            <a:srgbClr val="FFFFFF"/>
                          </a:solidFill>
                          <a:latin typeface="Arial" pitchFamily="34" charset="0"/>
                          <a:ea typeface="Arial" pitchFamily="34" charset="-122"/>
                          <a:cs typeface="Arial" pitchFamily="34" charset="-120"/>
                        </a:rPr>
                        <a:t>Fixed in</a:t>
                      </a:r>
                      <a:endParaRPr lang="en-US" sz="1350" dirty="0">
                        <a:latin typeface="Arial" charset="0"/>
                        <a:ea typeface="Arial" charset="0"/>
                        <a:cs typeface="Arial" charset="0"/>
                      </a:endParaRPr>
                    </a:p>
                  </a:txBody>
                  <a:tcPr marL="60007" marR="60007" marT="60007" marB="60007" anchor="t">
                    <a:lnL w="12700" cap="flat" cmpd="sng" algn="ctr">
                      <a:solidFill>
                        <a:srgbClr val="224F84"/>
                      </a:solidFill>
                      <a:prstDash val="solid"/>
                      <a:round/>
                      <a:headEnd type="none" w="med" len="med"/>
                      <a:tailEnd type="none" w="med" len="med"/>
                    </a:lnL>
                    <a:lnR w="12700" cap="flat" cmpd="sng" algn="ctr">
                      <a:solidFill>
                        <a:srgbClr val="224F8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24F84"/>
                      </a:solidFill>
                      <a:prstDash val="solid"/>
                      <a:round/>
                      <a:headEnd type="none" w="med" len="med"/>
                      <a:tailEnd type="none" w="med" len="med"/>
                    </a:lnB>
                    <a:solidFill>
                      <a:srgbClr val="2660A4"/>
                    </a:solidFill>
                  </a:tcPr>
                </a:tc>
              </a:tr>
              <a:tr h="372566">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CVE-2025-23419</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24F8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nginx</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24F8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Client-certificate auth bypass via session resumption</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24F8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1.27.4 / 1.26.3</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24F8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2566">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CVE-2024-37309</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1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4C6"/>
                      </a:solidFill>
                      <a:prstDash val="solid"/>
                      <a:round/>
                      <a:headEnd type="none" w="med" len="med"/>
                      <a:tailEnd type="none" w="med" len="med"/>
                    </a:lnB>
                    <a:solidFill>
                      <a:srgbClr val="F2F5F9"/>
                    </a:solidFill>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CrateDB</a:t>
                      </a:r>
                      <a:endParaRPr lang="en-US" sz="1350" dirty="0">
                        <a:latin typeface="Arial" charset="0"/>
                        <a:ea typeface="Arial" charset="0"/>
                        <a:cs typeface="Arial" charset="0"/>
                      </a:endParaRPr>
                    </a:p>
                  </a:txBody>
                  <a:tcPr marL="60007" marR="60007" marT="60007" marB="60007" anchor="t">
                    <a:lnL w="12700" cap="flat" cmpd="sng" algn="ctr">
                      <a:solidFill>
                        <a:srgbClr val="C1C4C6"/>
                      </a:solidFill>
                      <a:prstDash val="solid"/>
                      <a:round/>
                      <a:headEnd type="none" w="med" len="med"/>
                      <a:tailEnd type="none" w="med" len="med"/>
                    </a:lnL>
                    <a:lnR w="12700" cap="flat" cmpd="sng" algn="ctr">
                      <a:solidFill>
                        <a:srgbClr val="C1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4C6"/>
                      </a:solidFill>
                      <a:prstDash val="solid"/>
                      <a:round/>
                      <a:headEnd type="none" w="med" len="med"/>
                      <a:tailEnd type="none" w="med" len="med"/>
                    </a:lnB>
                    <a:solidFill>
                      <a:srgbClr val="F2F5F9"/>
                    </a:solidFill>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CPU denial of service via TLS renegotiation</a:t>
                      </a:r>
                      <a:endParaRPr lang="en-US" sz="1350" dirty="0">
                        <a:latin typeface="Arial" charset="0"/>
                        <a:ea typeface="Arial" charset="0"/>
                        <a:cs typeface="Arial" charset="0"/>
                      </a:endParaRPr>
                    </a:p>
                  </a:txBody>
                  <a:tcPr marL="60007" marR="60007" marT="60007" marB="60007" anchor="t">
                    <a:lnL w="12700" cap="flat" cmpd="sng" algn="ctr">
                      <a:solidFill>
                        <a:srgbClr val="C1C4C6"/>
                      </a:solidFill>
                      <a:prstDash val="solid"/>
                      <a:round/>
                      <a:headEnd type="none" w="med" len="med"/>
                      <a:tailEnd type="none" w="med" len="med"/>
                    </a:lnL>
                    <a:lnR w="12700" cap="flat" cmpd="sng" algn="ctr">
                      <a:solidFill>
                        <a:srgbClr val="C1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4C6"/>
                      </a:solidFill>
                      <a:prstDash val="solid"/>
                      <a:round/>
                      <a:headEnd type="none" w="med" len="med"/>
                      <a:tailEnd type="none" w="med" len="med"/>
                    </a:lnB>
                    <a:solidFill>
                      <a:srgbClr val="F2F5F9"/>
                    </a:solidFill>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5.7.2</a:t>
                      </a:r>
                      <a:endParaRPr lang="en-US" sz="1350" dirty="0">
                        <a:latin typeface="Arial" charset="0"/>
                        <a:ea typeface="Arial" charset="0"/>
                        <a:cs typeface="Arial" charset="0"/>
                      </a:endParaRPr>
                    </a:p>
                  </a:txBody>
                  <a:tcPr marL="60007" marR="60007" marT="60007" marB="60007" anchor="t">
                    <a:lnL w="12700" cap="flat" cmpd="sng" algn="ctr">
                      <a:solidFill>
                        <a:srgbClr val="C1C4C6"/>
                      </a:solidFill>
                      <a:prstDash val="solid"/>
                      <a:round/>
                      <a:headEnd type="none" w="med" len="med"/>
                      <a:tailEnd type="none" w="med" len="med"/>
                    </a:lnL>
                    <a:lnR w="12700" cap="flat" cmpd="sng" algn="ctr">
                      <a:solidFill>
                        <a:srgbClr val="C1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4C6"/>
                      </a:solidFill>
                      <a:prstDash val="solid"/>
                      <a:round/>
                      <a:headEnd type="none" w="med" len="med"/>
                      <a:tailEnd type="none" w="med" len="med"/>
                    </a:lnB>
                    <a:solidFill>
                      <a:srgbClr val="F2F5F9"/>
                    </a:solidFill>
                  </a:tcPr>
                </a:tc>
              </a:tr>
              <a:tr h="372566">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CVE-2025-66491</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Traefik</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Backend cert verification silently disabled → MITM</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90"/>
                        </a:lnSpc>
                        <a:buNone/>
                      </a:pPr>
                      <a:r>
                        <a:rPr lang="en-US" sz="1350" dirty="0">
                          <a:solidFill>
                            <a:srgbClr val="1A1A1A"/>
                          </a:solidFill>
                          <a:latin typeface="Arial" pitchFamily="34" charset="0"/>
                          <a:ea typeface="Arial" pitchFamily="34" charset="-122"/>
                          <a:cs typeface="Arial" pitchFamily="34" charset="-120"/>
                        </a:rPr>
                        <a:t>3.6.3</a:t>
                      </a:r>
                      <a:endParaRPr lang="en-US" sz="1350" dirty="0">
                        <a:latin typeface="Arial" charset="0"/>
                        <a:ea typeface="Arial" charset="0"/>
                        <a:cs typeface="Arial" charset="0"/>
                      </a:endParaRPr>
                    </a:p>
                  </a:txBody>
                  <a:tcPr marL="60007" marR="60007" marT="60007" marB="60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4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268266"/>
            <a:ext cx="10883392"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333333"/>
                </a:solidFill>
                <a:latin typeface="Arial" pitchFamily="34" charset="0"/>
                <a:ea typeface="Arial" pitchFamily="34" charset="-122"/>
                <a:cs typeface="Arial" pitchFamily="34" charset="-120"/>
              </a:rPr>
              <a:t>Three different weakness classes: an </a:t>
            </a:r>
            <a:r>
              <a:rPr lang="en-US" sz="1450" b="1" dirty="0">
                <a:solidFill>
                  <a:srgbClr val="333333"/>
                </a:solidFill>
                <a:latin typeface="Arial" pitchFamily="34" charset="0"/>
                <a:ea typeface="Arial" pitchFamily="34" charset="-122"/>
                <a:cs typeface="Arial" pitchFamily="34" charset="-120"/>
              </a:rPr>
              <a:t>authentication bypass</a:t>
            </a:r>
            <a:r>
              <a:rPr lang="en-US" sz="1450" dirty="0">
                <a:solidFill>
                  <a:srgbClr val="333333"/>
                </a:solidFill>
                <a:latin typeface="Arial" pitchFamily="34" charset="0"/>
                <a:ea typeface="Arial" pitchFamily="34" charset="-122"/>
                <a:cs typeface="Arial" pitchFamily="34" charset="-120"/>
              </a:rPr>
              <a:t>, a </a:t>
            </a:r>
            <a:r>
              <a:rPr lang="en-US" sz="1450" b="1" dirty="0">
                <a:solidFill>
                  <a:srgbClr val="333333"/>
                </a:solidFill>
                <a:latin typeface="Arial" pitchFamily="34" charset="0"/>
                <a:ea typeface="Arial" pitchFamily="34" charset="-122"/>
                <a:cs typeface="Arial" pitchFamily="34" charset="-120"/>
              </a:rPr>
              <a:t>denial of service</a:t>
            </a:r>
            <a:r>
              <a:rPr lang="en-US" sz="1450" dirty="0">
                <a:solidFill>
                  <a:srgbClr val="333333"/>
                </a:solidFill>
                <a:latin typeface="Arial" pitchFamily="34" charset="0"/>
                <a:ea typeface="Arial" pitchFamily="34" charset="-122"/>
                <a:cs typeface="Arial" pitchFamily="34" charset="-120"/>
              </a:rPr>
              <a:t>, and </a:t>
            </a:r>
            <a:r>
              <a:rPr lang="en-US" sz="1450" b="1" dirty="0">
                <a:solidFill>
                  <a:srgbClr val="333333"/>
                </a:solidFill>
                <a:latin typeface="Arial" pitchFamily="34" charset="0"/>
                <a:ea typeface="Arial" pitchFamily="34" charset="-122"/>
                <a:cs typeface="Arial" pitchFamily="34" charset="-120"/>
              </a:rPr>
              <a:t>improper certificate validation</a:t>
            </a:r>
            <a:r>
              <a:rPr lang="en-US" sz="1450" dirty="0">
                <a:solidFill>
                  <a:srgbClr val="333333"/>
                </a:solidFill>
                <a:latin typeface="Arial" pitchFamily="34" charset="0"/>
                <a:ea typeface="Arial" pitchFamily="34" charset="-122"/>
                <a:cs typeface="Arial" pitchFamily="34" charset="-120"/>
              </a:rPr>
              <a:t> enabling a man-in-the-middle.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660A4"/>
                </a:solidFill>
                <a:latin typeface="Arial" pitchFamily="34" charset="0"/>
                <a:ea typeface="Arial" pitchFamily="34" charset="-122"/>
                <a:cs typeface="Arial" pitchFamily="34" charset="-120"/>
              </a:rPr>
              <a:t>CVE-2025-23419 · nginx · authentication bypass</a:t>
            </a:r>
            <a:endParaRPr lang="en-US" sz="1300" dirty="0"/>
          </a:p>
        </p:txBody>
      </p:sp>
      <p:sp>
        <p:nvSpPr>
          <p:cNvPr id="3" name="Text 1"/>
          <p:cNvSpPr/>
          <p:nvPr>
            <p:ph type="title"/>
          </p:nvPr>
        </p:nvSpPr>
        <p:spPr>
          <a:xfrm>
            <a:off x="812800" y="1247080"/>
            <a:ext cx="10883392" cy="38854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A1A1A"/>
                </a:solidFill>
                <a:latin typeface="Arial" pitchFamily="34" charset="0"/>
                <a:ea typeface="Arial" pitchFamily="34" charset="-122"/>
                <a:cs typeface="Arial" pitchFamily="34" charset="-120"/>
              </a:rPr>
              <a:t>Client-cert bypass via TLS session resumption</a:t>
            </a:r>
            <a:endParaRPr lang="en-US" sz="2600" dirty="0"/>
          </a:p>
        </p:txBody>
      </p:sp>
      <p:sp>
        <p:nvSpPr>
          <p:cNvPr id="4" name="Text 2"/>
          <p:cNvSpPr/>
          <p:nvPr/>
        </p:nvSpPr>
        <p:spPr>
          <a:xfrm>
            <a:off x="812800" y="1813421"/>
            <a:ext cx="10883392" cy="85407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What it is:</a:t>
            </a:r>
            <a:r>
              <a:rPr lang="en-US" sz="1500" dirty="0">
                <a:solidFill>
                  <a:srgbClr val="1A1A1A"/>
                </a:solidFill>
                <a:latin typeface="Arial" pitchFamily="34" charset="0"/>
                <a:ea typeface="Arial" pitchFamily="34" charset="-122"/>
                <a:cs typeface="Arial" pitchFamily="34" charset="-120"/>
              </a:rPr>
              <a:t> when several nginx server blocks share one IP:port and the default server requires a client certificate, a TLS session resumed with a session ticket or cache entry can reach a protected server block </a:t>
            </a:r>
            <a:r>
              <a:rPr lang="en-US" sz="1500" b="1" dirty="0">
                <a:solidFill>
                  <a:srgbClr val="1A1A1A"/>
                </a:solidFill>
                <a:latin typeface="Arial" pitchFamily="34" charset="0"/>
                <a:ea typeface="Arial" pitchFamily="34" charset="-122"/>
                <a:cs typeface="Arial" pitchFamily="34" charset="-120"/>
              </a:rPr>
              <a:t>without presenting the certificate again</a:t>
            </a:r>
            <a:r>
              <a:rPr lang="en-US" sz="1500" dirty="0">
                <a:solidFill>
                  <a:srgbClr val="1A1A1A"/>
                </a:solidFill>
                <a:latin typeface="Arial" pitchFamily="34" charset="0"/>
                <a:ea typeface="Arial" pitchFamily="34" charset="-122"/>
                <a:cs typeface="Arial" pitchFamily="34" charset="-120"/>
              </a:rPr>
              <a:t>.</a:t>
            </a:r>
            <a:endParaRPr lang="en-US" sz="1500" dirty="0"/>
          </a:p>
        </p:txBody>
      </p:sp>
      <p:sp>
        <p:nvSpPr>
          <p:cNvPr id="5" name="Text 3"/>
          <p:cNvSpPr/>
          <p:nvPr/>
        </p:nvSpPr>
        <p:spPr>
          <a:xfrm>
            <a:off x="812800" y="2781796"/>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Demo:</a:t>
            </a:r>
            <a:r>
              <a:rPr lang="en-US" sz="1500" dirty="0">
                <a:solidFill>
                  <a:srgbClr val="1A1A1A"/>
                </a:solidFill>
                <a:latin typeface="Arial" pitchFamily="34" charset="0"/>
                <a:ea typeface="Arial" pitchFamily="34" charset="-122"/>
                <a:cs typeface="Arial" pitchFamily="34" charset="-120"/>
              </a:rPr>
              <a:t> we configure two server blocks on one port (one requires a client cert), open a valid session, then resume it to reach the protected block with no cert. Vulnerable build → access granted; patched build → rejected.</a:t>
            </a:r>
            <a:endParaRPr lang="en-US" sz="1500" dirty="0"/>
          </a:p>
        </p:txBody>
      </p:sp>
      <p:sp>
        <p:nvSpPr>
          <p:cNvPr id="6" name="Text 4"/>
          <p:cNvSpPr/>
          <p:nvPr/>
        </p:nvSpPr>
        <p:spPr>
          <a:xfrm>
            <a:off x="812800" y="3473946"/>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Fix:</a:t>
            </a:r>
            <a:r>
              <a:rPr lang="en-US" sz="1500" dirty="0">
                <a:solidFill>
                  <a:srgbClr val="1A1A1A"/>
                </a:solidFill>
                <a:latin typeface="Arial" pitchFamily="34" charset="0"/>
                <a:ea typeface="Arial" pitchFamily="34" charset="-122"/>
                <a:cs typeface="Arial" pitchFamily="34" charset="-120"/>
              </a:rPr>
              <a:t> nginx 1.27.4 / 1.26.3 re-checks the certificate on resumption. (CVSS ~4.3, CWE-863.)</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660A4"/>
                </a:solidFill>
                <a:latin typeface="Arial" pitchFamily="34" charset="0"/>
                <a:ea typeface="Arial" pitchFamily="34" charset="-122"/>
                <a:cs typeface="Arial" pitchFamily="34" charset="-120"/>
              </a:rPr>
              <a:t>CVE-2024-37309 · CrateDB · denial of service (CPU)</a:t>
            </a:r>
            <a:endParaRPr lang="en-US" sz="1300" dirty="0"/>
          </a:p>
        </p:txBody>
      </p:sp>
      <p:sp>
        <p:nvSpPr>
          <p:cNvPr id="3" name="Text 1"/>
          <p:cNvSpPr/>
          <p:nvPr>
            <p:ph type="title"/>
          </p:nvPr>
        </p:nvSpPr>
        <p:spPr>
          <a:xfrm>
            <a:off x="812800" y="1247080"/>
            <a:ext cx="10883392" cy="388541"/>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1A1A1A"/>
                </a:solidFill>
                <a:latin typeface="Arial" pitchFamily="34" charset="0"/>
                <a:ea typeface="Arial" pitchFamily="34" charset="-122"/>
                <a:cs typeface="Arial" pitchFamily="34" charset="-120"/>
              </a:rPr>
              <a:t>CPU exhaustion via client-initiated renegotiation</a:t>
            </a:r>
            <a:endParaRPr lang="en-US" sz="2600" dirty="0"/>
          </a:p>
        </p:txBody>
      </p:sp>
      <p:sp>
        <p:nvSpPr>
          <p:cNvPr id="4" name="Text 2"/>
          <p:cNvSpPr/>
          <p:nvPr/>
        </p:nvSpPr>
        <p:spPr>
          <a:xfrm>
            <a:off x="812800" y="181342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What it is:</a:t>
            </a:r>
            <a:r>
              <a:rPr lang="en-US" sz="1500" dirty="0">
                <a:solidFill>
                  <a:srgbClr val="1A1A1A"/>
                </a:solidFill>
                <a:latin typeface="Arial" pitchFamily="34" charset="0"/>
                <a:ea typeface="Arial" pitchFamily="34" charset="-122"/>
                <a:cs typeface="Arial" pitchFamily="34" charset="-120"/>
              </a:rPr>
              <a:t> the TLS endpoint (port 4200) lets the client keep requesting renegotiation of the TLS parameters during a session. Each renegotiation costs the server CPU, so repeated requests overload it and disrupt service.</a:t>
            </a:r>
            <a:endParaRPr lang="en-US" sz="1500" dirty="0"/>
          </a:p>
        </p:txBody>
      </p:sp>
      <p:sp>
        <p:nvSpPr>
          <p:cNvPr id="5" name="Text 3"/>
          <p:cNvSpPr/>
          <p:nvPr/>
        </p:nvSpPr>
        <p:spPr>
          <a:xfrm>
            <a:off x="812800" y="250557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Demo:</a:t>
            </a:r>
            <a:r>
              <a:rPr lang="en-US" sz="1500" dirty="0">
                <a:solidFill>
                  <a:srgbClr val="1A1A1A"/>
                </a:solidFill>
                <a:latin typeface="Arial" pitchFamily="34" charset="0"/>
                <a:ea typeface="Arial" pitchFamily="34" charset="-122"/>
                <a:cs typeface="Arial" pitchFamily="34" charset="-120"/>
              </a:rPr>
              <a:t> we open a TLS session and drive repeated renegotiations (e.g. </a:t>
            </a:r>
            <a:r>
              <a:rPr lang="en-US" sz="1500" b="1" dirty="0">
                <a:solidFill>
                  <a:srgbClr val="1A1A1A"/>
                </a:solidFill>
                <a:latin typeface="Arial" pitchFamily="34" charset="0"/>
                <a:ea typeface="Arial" pitchFamily="34" charset="-122"/>
                <a:cs typeface="Arial" pitchFamily="34" charset="-120"/>
              </a:rPr>
              <a:t>openssl s_client</a:t>
            </a:r>
            <a:r>
              <a:rPr lang="en-US" sz="1500" dirty="0">
                <a:solidFill>
                  <a:srgbClr val="1A1A1A"/>
                </a:solidFill>
                <a:latin typeface="Arial" pitchFamily="34" charset="0"/>
                <a:ea typeface="Arial" pitchFamily="34" charset="-122"/>
                <a:cs typeface="Arial" pitchFamily="34" charset="-120"/>
              </a:rPr>
              <a:t> ‘R’ / a short loop) while watching server CPU rise. A TLS 1.3 endpoint refuses renegotiation outright — nothing to abuse.</a:t>
            </a:r>
            <a:endParaRPr lang="en-US" sz="1500" dirty="0"/>
          </a:p>
        </p:txBody>
      </p:sp>
      <p:sp>
        <p:nvSpPr>
          <p:cNvPr id="6" name="Text 4"/>
          <p:cNvSpPr/>
          <p:nvPr/>
        </p:nvSpPr>
        <p:spPr>
          <a:xfrm>
            <a:off x="812800" y="319772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A1A1A"/>
                </a:solidFill>
                <a:latin typeface="Arial" pitchFamily="34" charset="0"/>
                <a:ea typeface="Arial" pitchFamily="34" charset="-122"/>
                <a:cs typeface="Arial" pitchFamily="34" charset="-120"/>
              </a:rPr>
              <a:t>Fix:</a:t>
            </a:r>
            <a:r>
              <a:rPr lang="en-US" sz="1500" dirty="0">
                <a:solidFill>
                  <a:srgbClr val="1A1A1A"/>
                </a:solidFill>
                <a:latin typeface="Arial" pitchFamily="34" charset="0"/>
                <a:ea typeface="Arial" pitchFamily="34" charset="-122"/>
                <a:cs typeface="Arial" pitchFamily="34" charset="-120"/>
              </a:rPr>
              <a:t> CrateDB 5.7.2; disable client-initiated renegotiation / require TLS 1.3. (CVSS 5.3.)</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660A4"/>
                </a:solidFill>
                <a:latin typeface="Arial" pitchFamily="34" charset="0"/>
                <a:ea typeface="Arial" pitchFamily="34" charset="-122"/>
                <a:cs typeface="Arial" pitchFamily="34" charset="-120"/>
              </a:rPr>
              <a:t>CVE-2025-66491 · Traefik · improper certificate validation</a:t>
            </a:r>
            <a:endParaRPr lang="en-US" sz="1300" dirty="0"/>
          </a:p>
        </p:txBody>
      </p:sp>
      <p:sp>
        <p:nvSpPr>
          <p:cNvPr id="3" name="Text 1"/>
          <p:cNvSpPr/>
          <p:nvPr>
            <p:ph type="title"/>
          </p:nvPr>
        </p:nvSpPr>
        <p:spPr>
          <a:xfrm>
            <a:off x="812800" y="1234380"/>
            <a:ext cx="10883392" cy="374650"/>
          </a:xfrm>
          <a:prstGeom prst="rect">
            <a:avLst/>
          </a:prstGeom>
          <a:noFill/>
          <a:ln/>
        </p:spPr>
        <p:txBody>
          <a:bodyPr wrap="square" lIns="0" tIns="0" rIns="0" bIns="0" rtlCol="0" anchor="t">
            <a:normAutofit/>
          </a:bodyPr>
          <a:lstStyle/>
          <a:p>
            <a:pPr algn="l" indent="0" marL="0">
              <a:lnSpc>
                <a:spcPts val="2750"/>
              </a:lnSpc>
              <a:buNone/>
            </a:pPr>
            <a:r>
              <a:rPr lang="en-US" sz="2500" b="1" i="0" dirty="0">
                <a:solidFill>
                  <a:srgbClr val="1A1A1A"/>
                </a:solidFill>
                <a:latin typeface="Arial" pitchFamily="34" charset="0"/>
                <a:ea typeface="Arial" pitchFamily="34" charset="-122"/>
                <a:cs typeface="Arial" pitchFamily="34" charset="-120"/>
              </a:rPr>
              <a:t>“Verify = on” that turned verification off</a:t>
            </a:r>
            <a:endParaRPr lang="en-US" sz="2500" dirty="0"/>
          </a:p>
        </p:txBody>
      </p:sp>
      <p:sp>
        <p:nvSpPr>
          <p:cNvPr id="4" name="Text 2"/>
          <p:cNvSpPr/>
          <p:nvPr/>
        </p:nvSpPr>
        <p:spPr>
          <a:xfrm>
            <a:off x="812800" y="1774130"/>
            <a:ext cx="10883392" cy="79871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A1A1A"/>
                </a:solidFill>
                <a:latin typeface="Arial" pitchFamily="34" charset="0"/>
                <a:ea typeface="Arial" pitchFamily="34" charset="-122"/>
                <a:cs typeface="Arial" pitchFamily="34" charset="-120"/>
              </a:rPr>
              <a:t>What it is:</a:t>
            </a:r>
            <a:r>
              <a:rPr lang="en-US" sz="1450" dirty="0">
                <a:solidFill>
                  <a:srgbClr val="1A1A1A"/>
                </a:solidFill>
                <a:latin typeface="Arial" pitchFamily="34" charset="0"/>
                <a:ea typeface="Arial" pitchFamily="34" charset="-122"/>
                <a:cs typeface="Arial" pitchFamily="34" charset="-120"/>
              </a:rPr>
              <a:t> in Traefik’s ingress-nginx provider the </a:t>
            </a:r>
            <a:r>
              <a:rPr lang="en-US" sz="1450" b="1" dirty="0">
                <a:solidFill>
                  <a:srgbClr val="1A1A1A"/>
                </a:solidFill>
                <a:latin typeface="Arial" pitchFamily="34" charset="0"/>
                <a:ea typeface="Arial" pitchFamily="34" charset="-122"/>
                <a:cs typeface="Arial" pitchFamily="34" charset="-120"/>
              </a:rPr>
              <a:t>proxy-ssl-verify</a:t>
            </a:r>
            <a:r>
              <a:rPr lang="en-US" sz="1450" dirty="0">
                <a:solidFill>
                  <a:srgbClr val="1A1A1A"/>
                </a:solidFill>
                <a:latin typeface="Arial" pitchFamily="34" charset="0"/>
                <a:ea typeface="Arial" pitchFamily="34" charset="-122"/>
                <a:cs typeface="Arial" pitchFamily="34" charset="-120"/>
              </a:rPr>
              <a:t> annotation logic is inverted. Setting it to </a:t>
            </a:r>
            <a:r>
              <a:rPr lang="en-US" sz="1450" b="1" dirty="0">
                <a:solidFill>
                  <a:srgbClr val="1A1A1A"/>
                </a:solidFill>
                <a:latin typeface="Arial" pitchFamily="34" charset="0"/>
                <a:ea typeface="Arial" pitchFamily="34" charset="-122"/>
                <a:cs typeface="Arial" pitchFamily="34" charset="-120"/>
              </a:rPr>
              <a:t>“on”</a:t>
            </a:r>
            <a:r>
              <a:rPr lang="en-US" sz="1450" dirty="0">
                <a:solidFill>
                  <a:srgbClr val="1A1A1A"/>
                </a:solidFill>
                <a:latin typeface="Arial" pitchFamily="34" charset="0"/>
                <a:ea typeface="Arial" pitchFamily="34" charset="-122"/>
                <a:cs typeface="Arial" pitchFamily="34" charset="-120"/>
              </a:rPr>
              <a:t> sets Go’s </a:t>
            </a:r>
            <a:r>
              <a:rPr lang="en-US" sz="1450" b="1" dirty="0">
                <a:solidFill>
                  <a:srgbClr val="1A1A1A"/>
                </a:solidFill>
                <a:latin typeface="Arial" pitchFamily="34" charset="0"/>
                <a:ea typeface="Arial" pitchFamily="34" charset="-122"/>
                <a:cs typeface="Arial" pitchFamily="34" charset="-120"/>
              </a:rPr>
              <a:t>InsecureSkipVerify = true</a:t>
            </a:r>
            <a:r>
              <a:rPr lang="en-US" sz="1450" dirty="0">
                <a:solidFill>
                  <a:srgbClr val="1A1A1A"/>
                </a:solidFill>
                <a:latin typeface="Arial" pitchFamily="34" charset="0"/>
                <a:ea typeface="Arial" pitchFamily="34" charset="-122"/>
                <a:cs typeface="Arial" pitchFamily="34" charset="-120"/>
              </a:rPr>
              <a:t>, so Traefik stops checking the backend’s TLS certificate — exposing HTTPS backends to a man-in-the-middle, while operators believe they are protected.</a:t>
            </a:r>
            <a:endParaRPr lang="en-US" sz="1450" dirty="0"/>
          </a:p>
        </p:txBody>
      </p:sp>
      <p:sp>
        <p:nvSpPr>
          <p:cNvPr id="5" name="Text 3"/>
          <p:cNvSpPr/>
          <p:nvPr/>
        </p:nvSpPr>
        <p:spPr>
          <a:xfrm>
            <a:off x="812800" y="2674441"/>
            <a:ext cx="10883392"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A1A1A"/>
                </a:solidFill>
                <a:latin typeface="Arial" pitchFamily="34" charset="0"/>
                <a:ea typeface="Arial" pitchFamily="34" charset="-122"/>
                <a:cs typeface="Arial" pitchFamily="34" charset="-120"/>
              </a:rPr>
              <a:t>Demo:</a:t>
            </a:r>
            <a:r>
              <a:rPr lang="en-US" sz="1450" dirty="0">
                <a:solidFill>
                  <a:srgbClr val="1A1A1A"/>
                </a:solidFill>
                <a:latin typeface="Arial" pitchFamily="34" charset="0"/>
                <a:ea typeface="Arial" pitchFamily="34" charset="-122"/>
                <a:cs typeface="Arial" pitchFamily="34" charset="-120"/>
              </a:rPr>
              <a:t> a small local Kubernetes runs Traefik with that provider and an HTTPS backend presenting an untrusted cert. On the vulnerable build the connection is accepted (verification off); on the patched build it is rejected.</a:t>
            </a:r>
            <a:endParaRPr lang="en-US" sz="1450" dirty="0"/>
          </a:p>
        </p:txBody>
      </p:sp>
      <p:sp>
        <p:nvSpPr>
          <p:cNvPr id="6" name="Text 4"/>
          <p:cNvSpPr/>
          <p:nvPr/>
        </p:nvSpPr>
        <p:spPr>
          <a:xfrm>
            <a:off x="812800" y="3316982"/>
            <a:ext cx="10883392"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A1A1A"/>
                </a:solidFill>
                <a:latin typeface="Arial" pitchFamily="34" charset="0"/>
                <a:ea typeface="Arial" pitchFamily="34" charset="-122"/>
                <a:cs typeface="Arial" pitchFamily="34" charset="-120"/>
              </a:rPr>
              <a:t>Fix:</a:t>
            </a:r>
            <a:r>
              <a:rPr lang="en-US" sz="1450" dirty="0">
                <a:solidFill>
                  <a:srgbClr val="1A1A1A"/>
                </a:solidFill>
                <a:latin typeface="Arial" pitchFamily="34" charset="0"/>
                <a:ea typeface="Arial" pitchFamily="34" charset="-122"/>
                <a:cs typeface="Arial" pitchFamily="34" charset="-120"/>
              </a:rPr>
              <a:t> Traefik 3.6.3 (affected 3.5.0–3.6.2). CWE-295; CVSS 5.9. Needs a bit more setup (a k3d/kind cluster).</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2660A4"/>
                </a:solidFill>
                <a:latin typeface="Arial" pitchFamily="34" charset="0"/>
                <a:ea typeface="Arial" pitchFamily="34" charset="-122"/>
                <a:cs typeface="Arial" pitchFamily="34" charset="-120"/>
              </a:rPr>
              <a:t>Plan &amp; what we show today</a:t>
            </a:r>
            <a:endParaRPr lang="en-US" sz="3000" dirty="0"/>
          </a:p>
        </p:txBody>
      </p:sp>
      <p:sp>
        <p:nvSpPr>
          <p:cNvPr id="3" name="Text 1"/>
          <p:cNvSpPr/>
          <p:nvPr/>
        </p:nvSpPr>
        <p:spPr>
          <a:xfrm>
            <a:off x="812800" y="1504950"/>
            <a:ext cx="52324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1A1A"/>
                </a:solidFill>
                <a:latin typeface="Arial" pitchFamily="34" charset="0"/>
                <a:ea typeface="Arial" pitchFamily="34" charset="-122"/>
                <a:cs typeface="Arial" pitchFamily="34" charset="-120"/>
              </a:rPr>
              <a:t>At this meeting</a:t>
            </a:r>
            <a:endParaRPr lang="en-US" sz="1700" dirty="0"/>
          </a:p>
        </p:txBody>
      </p:sp>
      <p:sp>
        <p:nvSpPr>
          <p:cNvPr id="4" name="Text 2"/>
          <p:cNvSpPr/>
          <p:nvPr/>
        </p:nvSpPr>
        <p:spPr>
          <a:xfrm>
            <a:off x="910082" y="1878310"/>
            <a:ext cx="5127498" cy="1403052"/>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Environment built and running</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Tools installed and working</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Vulnerable + patched images pulled</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Servers start and accept TLS</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Ready to run the experiments</a:t>
            </a:r>
            <a:endParaRPr lang="en-US" sz="1400" dirty="0"/>
          </a:p>
        </p:txBody>
      </p:sp>
      <p:sp>
        <p:nvSpPr>
          <p:cNvPr id="5" name="Text 3"/>
          <p:cNvSpPr/>
          <p:nvPr/>
        </p:nvSpPr>
        <p:spPr>
          <a:xfrm>
            <a:off x="6299200" y="1504950"/>
            <a:ext cx="52324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A1A1A"/>
                </a:solidFill>
                <a:latin typeface="Arial" pitchFamily="34" charset="0"/>
                <a:ea typeface="Arial" pitchFamily="34" charset="-122"/>
                <a:cs typeface="Arial" pitchFamily="34" charset="-120"/>
              </a:rPr>
              <a:t>Next meeting</a:t>
            </a:r>
            <a:endParaRPr lang="en-US" sz="1700" dirty="0"/>
          </a:p>
        </p:txBody>
      </p:sp>
      <p:sp>
        <p:nvSpPr>
          <p:cNvPr id="6" name="Text 4"/>
          <p:cNvSpPr/>
          <p:nvPr/>
        </p:nvSpPr>
        <p:spPr>
          <a:xfrm>
            <a:off x="6396482" y="1878310"/>
            <a:ext cx="5127498" cy="1127522"/>
          </a:xfrm>
          <a:prstGeom prst="rect">
            <a:avLst/>
          </a:prstGeom>
          <a:noFill/>
          <a:ln/>
        </p:spPr>
        <p:txBody>
          <a:bodyPr wrap="square" lIns="0" tIns="0" rIns="0" bIns="0" rtlCol="0" anchor="t">
            <a:normAutofit/>
          </a:bodyPr>
          <a:lstStyle/>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Testbed setup documented</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Experiments run: vulnerable vs patched</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Results as screenshots / code / figures</a:t>
            </a:r>
            <a:endParaRPr lang="en-US" sz="1400" dirty="0"/>
          </a:p>
          <a:p>
            <a:pPr algn="l" marL="156718" indent="-156718">
              <a:lnSpc>
                <a:spcPts val="2170"/>
              </a:lnSpc>
              <a:buSzPct val="100000"/>
              <a:buChar char="•"/>
            </a:pPr>
            <a:r>
              <a:rPr lang="en-US" sz="1400" dirty="0">
                <a:solidFill>
                  <a:srgbClr val="333333"/>
                </a:solidFill>
                <a:latin typeface="Arial" pitchFamily="34" charset="0"/>
                <a:ea typeface="Arial" pitchFamily="34" charset="-122"/>
                <a:cs typeface="Arial" pitchFamily="34" charset="-120"/>
              </a:rPr>
              <a:t>Practical part complete, ready for the report</a:t>
            </a:r>
            <a:endParaRPr lang="en-US" sz="1400" dirty="0"/>
          </a:p>
        </p:txBody>
      </p:sp>
    </p:spTree>
  </p:cSld>
  <p:clrMapOvr>
    <a:masterClrMapping/>
  </p:clrMapOvr>
</p:sld>
</file>

<file path=ppt/theme/theme1.xml><?xml version="1.0" encoding="utf-8"?>
<a:theme xmlns:a="http://schemas.openxmlformats.org/drawingml/2006/main" name="TLS Vulnerabilities — Meeting #1 (PoC)">
  <a:themeElements>
    <a:clrScheme name="TLS Vulnerabilities — Meeting #1 (PoC)">
      <a:dk1>
        <a:srgbClr val="1A1A1A"/>
      </a:dk1>
      <a:lt1>
        <a:srgbClr val="FFFFFF"/>
      </a:lt1>
      <a:dk2>
        <a:srgbClr val="535353"/>
      </a:dk2>
      <a:lt2>
        <a:srgbClr val="E8E8E8"/>
      </a:lt2>
      <a:accent1>
        <a:srgbClr val="2660A4"/>
      </a:accent1>
      <a:accent2>
        <a:srgbClr val="333333"/>
      </a:accent2>
      <a:accent3>
        <a:srgbClr val="666666"/>
      </a:accent3>
      <a:accent4>
        <a:srgbClr val="444444"/>
      </a:accent4>
      <a:accent5>
        <a:srgbClr val="9AA0A6"/>
      </a:accent5>
      <a:accent6>
        <a:srgbClr val="767676"/>
      </a:accent6>
      <a:hlink>
        <a:srgbClr val="0563C1"/>
      </a:hlink>
      <a:folHlink>
        <a:srgbClr val="954F72"/>
      </a:folHlink>
    </a:clrScheme>
    <a:fontScheme name="TLS Vulnerabilities — Meeting #1 (Po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TLS Vulnerabilities — Meeting #1 (PoC)</dc:title>
  <dc:subject/>
  <dc:creator/>
  <cp:lastModifiedBy/>
  <cp:revision>1</cp:revision>
  <dcterms:created xsi:type="dcterms:W3CDTF">2026-10-19T19:45:47Z</dcterms:created>
  <dcterms:modified xsi:type="dcterms:W3CDTF">2026-10-19T19:45:47Z</dcterms:modified>
</cp:coreProperties>
</file>